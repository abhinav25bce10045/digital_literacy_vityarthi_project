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47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550A"/>
          </a:solidFill>
          <a:ln w="12700">
            <a:solidFill>
              <a:srgbClr val="D455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234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5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2468880" cy="27432"/>
          </a:xfrm>
          <a:prstGeom prst="rect">
            <a:avLst/>
          </a:prstGeom>
          <a:solidFill>
            <a:srgbClr val="2C4A6B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9385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Literacy Guide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First-Year Students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2788920"/>
            <a:ext cx="2880360" cy="292608"/>
          </a:xfrm>
          <a:prstGeom prst="rect">
            <a:avLst/>
          </a:prstGeom>
          <a:solidFill>
            <a:srgbClr val="1A5494"/>
          </a:solidFill>
          <a:ln w="12700">
            <a:solidFill>
              <a:srgbClr val="1A54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27889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DIGITAL LITERACY?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3127248"/>
            <a:ext cx="28803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ability to </a:t>
            </a: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find, evaluate, create</a:t>
            </a:r>
            <a:r>
              <a:rPr lang="en-US" sz="1150" dirty="0">
                <a:solidFill>
                  <a:srgbClr val="B0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communicate information using digital technologies — </a:t>
            </a:r>
            <a:r>
              <a:rPr lang="en-US" sz="1150" b="1" dirty="0">
                <a:solidFill>
                  <a:srgbClr val="D45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responsibly and effectively.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081526"/>
          </a:solidFill>
          <a:ln w="12700">
            <a:solidFill>
              <a:srgbClr val="0815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63367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Bhopal University  |  CSE0001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" y="66019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Literacy Portfolio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0"/>
            <a:ext cx="8961120" cy="512064"/>
          </a:xfrm>
          <a:prstGeom prst="rect">
            <a:avLst/>
          </a:prstGeom>
          <a:solidFill>
            <a:srgbClr val="1A5494"/>
          </a:solidFill>
          <a:ln w="12700">
            <a:solidFill>
              <a:srgbClr val="1A54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THINGS EVERY STUDENT MUST KNOW ABOUT THE DIGITAL WORLD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621792"/>
            <a:ext cx="2697480" cy="42062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640080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794760" y="6217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USEFUL DIGITAL TOOLS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37560" y="1133856"/>
            <a:ext cx="2697480" cy="841248"/>
          </a:xfrm>
          <a:prstGeom prst="rect">
            <a:avLst/>
          </a:prstGeom>
          <a:solidFill>
            <a:srgbClr val="DDEAF6"/>
          </a:solidFill>
          <a:ln w="6350">
            <a:solidFill>
              <a:srgbClr val="C5D8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37560" y="1133856"/>
            <a:ext cx="64008" cy="8412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65576" y="1188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465576" y="14630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showcase your code projects online.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337560" y="2048256"/>
            <a:ext cx="2697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37560" y="2048256"/>
            <a:ext cx="64008" cy="8412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65576" y="2103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465576" y="23774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 — access files from anywhere.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337560" y="2962656"/>
            <a:ext cx="2697480" cy="841248"/>
          </a:xfrm>
          <a:prstGeom prst="rect">
            <a:avLst/>
          </a:prstGeom>
          <a:solidFill>
            <a:srgbClr val="DDEAF6"/>
          </a:solidFill>
          <a:ln w="6350">
            <a:solidFill>
              <a:srgbClr val="C5D8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337560" y="2962656"/>
            <a:ext cx="64008" cy="8412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65576" y="3017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3465576" y="32918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presentations, infographics &amp; posters.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337560" y="3877056"/>
            <a:ext cx="2697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37560" y="3877056"/>
            <a:ext cx="64008" cy="8412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65576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3465576" y="42062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code editor used by professionals.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337560" y="4791456"/>
            <a:ext cx="2697480" cy="841248"/>
          </a:xfrm>
          <a:prstGeom prst="rect">
            <a:avLst/>
          </a:prstGeom>
          <a:solidFill>
            <a:srgbClr val="DDEAF6"/>
          </a:solidFill>
          <a:ln w="6350">
            <a:solidFill>
              <a:srgbClr val="C5D8E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337560" y="4791456"/>
            <a:ext cx="64008" cy="8412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65576" y="4846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HackerRank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3465576" y="51206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coding &amp; prepare for placements.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217920" y="621792"/>
            <a:ext cx="2834640" cy="420624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640080"/>
            <a:ext cx="347472" cy="34747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675120" y="62179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SAFE INTERNET PRACTICES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6217920" y="1133856"/>
            <a:ext cx="2834640" cy="841248"/>
          </a:xfrm>
          <a:prstGeom prst="rect">
            <a:avLst/>
          </a:prstGeom>
          <a:solidFill>
            <a:srgbClr val="D9F0ED"/>
          </a:solidFill>
          <a:ln w="6350">
            <a:solidFill>
              <a:srgbClr val="AADDD7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217920" y="1133856"/>
            <a:ext cx="64008" cy="84124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336792" y="1307592"/>
            <a:ext cx="420624" cy="420624"/>
          </a:xfrm>
          <a:prstGeom prst="ellipse">
            <a:avLst/>
          </a:prstGeom>
          <a:solidFill>
            <a:srgbClr val="D5F5E3"/>
          </a:solidFill>
          <a:ln w="6350">
            <a:solidFill>
              <a:srgbClr val="27AE60"/>
            </a:solidFill>
            <a:prstDash val="solid"/>
          </a:ln>
        </p:spPr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344168"/>
            <a:ext cx="310896" cy="310896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6821424" y="11887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strong, unique passwords</a:t>
            </a:r>
            <a:endParaRPr lang="en-US" sz="1150" dirty="0"/>
          </a:p>
        </p:txBody>
      </p:sp>
      <p:sp>
        <p:nvSpPr>
          <p:cNvPr id="48" name="Text 43"/>
          <p:cNvSpPr/>
          <p:nvPr/>
        </p:nvSpPr>
        <p:spPr>
          <a:xfrm>
            <a:off x="6821424" y="147218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letters, numbers &amp; symbols. Never reuse passwords across sites.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6217920" y="2048256"/>
            <a:ext cx="2834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AADDD7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6217920" y="2048256"/>
            <a:ext cx="64008" cy="84124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336792" y="2221992"/>
            <a:ext cx="420624" cy="420624"/>
          </a:xfrm>
          <a:prstGeom prst="ellipse">
            <a:avLst/>
          </a:prstGeom>
          <a:solidFill>
            <a:srgbClr val="D5F5E3"/>
          </a:solidFill>
          <a:ln w="6350">
            <a:solidFill>
              <a:srgbClr val="27AE60"/>
            </a:solidFill>
            <a:prstDash val="solid"/>
          </a:ln>
        </p:spPr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258568"/>
            <a:ext cx="310896" cy="310896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6821424" y="21031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you click</a:t>
            </a:r>
            <a:endParaRPr lang="en-US" sz="1150" dirty="0"/>
          </a:p>
        </p:txBody>
      </p:sp>
      <p:sp>
        <p:nvSpPr>
          <p:cNvPr id="54" name="Text 48"/>
          <p:cNvSpPr/>
          <p:nvPr/>
        </p:nvSpPr>
        <p:spPr>
          <a:xfrm>
            <a:off x="6821424" y="238658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URLs for https:// and look for typos in domain names.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6217920" y="2962656"/>
            <a:ext cx="2834640" cy="841248"/>
          </a:xfrm>
          <a:prstGeom prst="rect">
            <a:avLst/>
          </a:prstGeom>
          <a:solidFill>
            <a:srgbClr val="D9F0ED"/>
          </a:solidFill>
          <a:ln w="6350">
            <a:solidFill>
              <a:srgbClr val="AADDD7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217920" y="2962656"/>
            <a:ext cx="64008" cy="84124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6336792" y="3136392"/>
            <a:ext cx="420624" cy="420624"/>
          </a:xfrm>
          <a:prstGeom prst="ellipse">
            <a:avLst/>
          </a:prstGeom>
          <a:solidFill>
            <a:srgbClr val="D5F5E3"/>
          </a:solidFill>
          <a:ln w="6350">
            <a:solidFill>
              <a:srgbClr val="27AE60"/>
            </a:solidFill>
            <a:prstDash val="solid"/>
          </a:ln>
        </p:spPr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172968"/>
            <a:ext cx="310896" cy="310896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6821424" y="30175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Two-Factor Auth (2FA)</a:t>
            </a:r>
            <a:endParaRPr lang="en-US" sz="1150" dirty="0"/>
          </a:p>
        </p:txBody>
      </p:sp>
      <p:sp>
        <p:nvSpPr>
          <p:cNvPr id="60" name="Text 53"/>
          <p:cNvSpPr/>
          <p:nvPr/>
        </p:nvSpPr>
        <p:spPr>
          <a:xfrm>
            <a:off x="6821424" y="330098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extra layer of security to your email, GitHub and LinkedIn.</a:t>
            </a:r>
            <a:endParaRPr lang="en-US" sz="1000" dirty="0"/>
          </a:p>
        </p:txBody>
      </p:sp>
      <p:sp>
        <p:nvSpPr>
          <p:cNvPr id="61" name="Shape 54"/>
          <p:cNvSpPr/>
          <p:nvPr/>
        </p:nvSpPr>
        <p:spPr>
          <a:xfrm>
            <a:off x="6217920" y="3877056"/>
            <a:ext cx="2834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AADDD7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6217920" y="3877056"/>
            <a:ext cx="64008" cy="84124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6336792" y="4050792"/>
            <a:ext cx="420624" cy="420624"/>
          </a:xfrm>
          <a:prstGeom prst="ellipse">
            <a:avLst/>
          </a:prstGeom>
          <a:solidFill>
            <a:srgbClr val="D5F5E3"/>
          </a:solidFill>
          <a:ln w="6350">
            <a:solidFill>
              <a:srgbClr val="27AE60"/>
            </a:solidFill>
            <a:prstDash val="solid"/>
          </a:ln>
        </p:spPr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087368"/>
            <a:ext cx="310896" cy="310896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6821424" y="39319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careful on public Wi-Fi</a:t>
            </a:r>
            <a:endParaRPr lang="en-US" sz="1150" dirty="0"/>
          </a:p>
        </p:txBody>
      </p:sp>
      <p:sp>
        <p:nvSpPr>
          <p:cNvPr id="66" name="Text 58"/>
          <p:cNvSpPr/>
          <p:nvPr/>
        </p:nvSpPr>
        <p:spPr>
          <a:xfrm>
            <a:off x="6821424" y="421538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banking or logging in to accounts on public networks.</a:t>
            </a:r>
            <a:endParaRPr lang="en-US" sz="1000" dirty="0"/>
          </a:p>
        </p:txBody>
      </p:sp>
      <p:sp>
        <p:nvSpPr>
          <p:cNvPr id="67" name="Shape 59"/>
          <p:cNvSpPr/>
          <p:nvPr/>
        </p:nvSpPr>
        <p:spPr>
          <a:xfrm>
            <a:off x="6217920" y="4791456"/>
            <a:ext cx="2834640" cy="841248"/>
          </a:xfrm>
          <a:prstGeom prst="rect">
            <a:avLst/>
          </a:prstGeom>
          <a:solidFill>
            <a:srgbClr val="D9F0ED"/>
          </a:solidFill>
          <a:ln w="6350">
            <a:solidFill>
              <a:srgbClr val="AADDD7"/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6217920" y="4791456"/>
            <a:ext cx="64008" cy="84124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6336792" y="4965192"/>
            <a:ext cx="420624" cy="420624"/>
          </a:xfrm>
          <a:prstGeom prst="ellipse">
            <a:avLst/>
          </a:prstGeom>
          <a:solidFill>
            <a:srgbClr val="FDEBD0"/>
          </a:solidFill>
          <a:ln w="6350">
            <a:solidFill>
              <a:srgbClr val="F0A500"/>
            </a:solidFill>
            <a:prstDash val="solid"/>
          </a:ln>
        </p:spPr>
      </p:sp>
      <p:pic>
        <p:nvPicPr>
          <p:cNvPr id="7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5001768"/>
            <a:ext cx="310896" cy="310896"/>
          </a:xfrm>
          <a:prstGeom prst="rect">
            <a:avLst/>
          </a:prstGeom>
        </p:spPr>
      </p:pic>
      <p:sp>
        <p:nvSpPr>
          <p:cNvPr id="71" name="Text 62"/>
          <p:cNvSpPr/>
          <p:nvPr/>
        </p:nvSpPr>
        <p:spPr>
          <a:xfrm>
            <a:off x="6821424" y="48463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before you post</a:t>
            </a:r>
            <a:endParaRPr lang="en-US" sz="1150" dirty="0"/>
          </a:p>
        </p:txBody>
      </p:sp>
      <p:sp>
        <p:nvSpPr>
          <p:cNvPr id="72" name="Text 63"/>
          <p:cNvSpPr/>
          <p:nvPr/>
        </p:nvSpPr>
        <p:spPr>
          <a:xfrm>
            <a:off x="6821424" y="512978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look up your social media. Keep profiles professional.</a:t>
            </a:r>
            <a:endParaRPr lang="en-US" sz="1000" dirty="0"/>
          </a:p>
        </p:txBody>
      </p:sp>
      <p:sp>
        <p:nvSpPr>
          <p:cNvPr id="73" name="Shape 64"/>
          <p:cNvSpPr/>
          <p:nvPr/>
        </p:nvSpPr>
        <p:spPr>
          <a:xfrm>
            <a:off x="9235440" y="621792"/>
            <a:ext cx="2743200" cy="420624"/>
          </a:xfrm>
          <a:prstGeom prst="rect">
            <a:avLst/>
          </a:prstGeom>
          <a:solidFill>
            <a:srgbClr val="D4550A"/>
          </a:solidFill>
          <a:ln w="12700">
            <a:solidFill>
              <a:srgbClr val="D4550A"/>
            </a:solidFill>
            <a:prstDash val="solid"/>
          </a:ln>
        </p:spPr>
      </p:sp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640080"/>
            <a:ext cx="347472" cy="347472"/>
          </a:xfrm>
          <a:prstGeom prst="rect">
            <a:avLst/>
          </a:prstGeom>
        </p:spPr>
      </p:pic>
      <p:sp>
        <p:nvSpPr>
          <p:cNvPr id="75" name="Text 65"/>
          <p:cNvSpPr/>
          <p:nvPr/>
        </p:nvSpPr>
        <p:spPr>
          <a:xfrm>
            <a:off x="9692640" y="62179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PROFESSIONAL PRESENCE</a:t>
            </a:r>
            <a:endParaRPr lang="en-US" sz="1100" dirty="0"/>
          </a:p>
        </p:txBody>
      </p:sp>
      <p:sp>
        <p:nvSpPr>
          <p:cNvPr id="76" name="Shape 66"/>
          <p:cNvSpPr/>
          <p:nvPr/>
        </p:nvSpPr>
        <p:spPr>
          <a:xfrm>
            <a:off x="9235440" y="1133856"/>
            <a:ext cx="2743200" cy="1371600"/>
          </a:xfrm>
          <a:prstGeom prst="rect">
            <a:avLst/>
          </a:prstGeom>
          <a:solidFill>
            <a:srgbClr val="FFF0E6"/>
          </a:solidFill>
          <a:ln w="6350">
            <a:solidFill>
              <a:srgbClr val="F4C09A"/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9235440" y="1133856"/>
            <a:ext cx="64008" cy="1371600"/>
          </a:xfrm>
          <a:prstGeom prst="rect">
            <a:avLst/>
          </a:prstGeom>
          <a:solidFill>
            <a:srgbClr val="D4550A"/>
          </a:solidFill>
          <a:ln w="12700">
            <a:solidFill>
              <a:srgbClr val="D4550A"/>
            </a:solidFill>
            <a:prstDash val="solid"/>
          </a:ln>
        </p:spPr>
      </p:sp>
      <p:sp>
        <p:nvSpPr>
          <p:cNvPr id="78" name="Text 68"/>
          <p:cNvSpPr/>
          <p:nvPr/>
        </p:nvSpPr>
        <p:spPr>
          <a:xfrm>
            <a:off x="9363456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5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9" name="Text 69"/>
          <p:cNvSpPr/>
          <p:nvPr/>
        </p:nvSpPr>
        <p:spPr>
          <a:xfrm>
            <a:off x="9363456" y="1463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and internship coordinators actively search for candidates online before interviews. Your digital profile is your first impression — make it count.</a:t>
            </a:r>
            <a:endParaRPr lang="en-US" sz="1050" dirty="0"/>
          </a:p>
        </p:txBody>
      </p:sp>
      <p:sp>
        <p:nvSpPr>
          <p:cNvPr id="80" name="Shape 70"/>
          <p:cNvSpPr/>
          <p:nvPr/>
        </p:nvSpPr>
        <p:spPr>
          <a:xfrm>
            <a:off x="9235440" y="2615184"/>
            <a:ext cx="1353312" cy="978408"/>
          </a:xfrm>
          <a:prstGeom prst="rect">
            <a:avLst/>
          </a:prstGeom>
          <a:solidFill>
            <a:srgbClr val="E8ECF0"/>
          </a:solidFill>
          <a:ln w="10160">
            <a:solidFill>
              <a:srgbClr val="24292E"/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9235440" y="2615184"/>
            <a:ext cx="1353312" cy="292608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82" name="Text 72"/>
          <p:cNvSpPr/>
          <p:nvPr/>
        </p:nvSpPr>
        <p:spPr>
          <a:xfrm>
            <a:off x="9290304" y="26151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83" name="Text 73"/>
          <p:cNvSpPr/>
          <p:nvPr/>
        </p:nvSpPr>
        <p:spPr>
          <a:xfrm>
            <a:off x="9290304" y="294436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code, build portfolio</a:t>
            </a:r>
            <a:endParaRPr lang="en-US" sz="1000" dirty="0"/>
          </a:p>
        </p:txBody>
      </p:sp>
      <p:sp>
        <p:nvSpPr>
          <p:cNvPr id="84" name="Shape 74"/>
          <p:cNvSpPr/>
          <p:nvPr/>
        </p:nvSpPr>
        <p:spPr>
          <a:xfrm>
            <a:off x="10625328" y="2615184"/>
            <a:ext cx="1353312" cy="978408"/>
          </a:xfrm>
          <a:prstGeom prst="rect">
            <a:avLst/>
          </a:prstGeom>
          <a:solidFill>
            <a:srgbClr val="E0F0FA"/>
          </a:solidFill>
          <a:ln w="10160">
            <a:solidFill>
              <a:srgbClr val="0077B5"/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10625328" y="2615184"/>
            <a:ext cx="1353312" cy="292608"/>
          </a:xfrm>
          <a:prstGeom prst="rect">
            <a:avLst/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sp>
        <p:nvSpPr>
          <p:cNvPr id="86" name="Text 76"/>
          <p:cNvSpPr/>
          <p:nvPr/>
        </p:nvSpPr>
        <p:spPr>
          <a:xfrm>
            <a:off x="10680192" y="261518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100" dirty="0"/>
          </a:p>
        </p:txBody>
      </p:sp>
      <p:sp>
        <p:nvSpPr>
          <p:cNvPr id="87" name="Text 77"/>
          <p:cNvSpPr/>
          <p:nvPr/>
        </p:nvSpPr>
        <p:spPr>
          <a:xfrm>
            <a:off x="10680192" y="294436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with professionals</a:t>
            </a:r>
            <a:endParaRPr lang="en-US" sz="1000" dirty="0"/>
          </a:p>
        </p:txBody>
      </p:sp>
      <p:sp>
        <p:nvSpPr>
          <p:cNvPr id="88" name="Shape 78"/>
          <p:cNvSpPr/>
          <p:nvPr/>
        </p:nvSpPr>
        <p:spPr>
          <a:xfrm>
            <a:off x="9235440" y="3666744"/>
            <a:ext cx="1353312" cy="978408"/>
          </a:xfrm>
          <a:prstGeom prst="rect">
            <a:avLst/>
          </a:prstGeom>
          <a:solidFill>
            <a:srgbClr val="D9EEF9"/>
          </a:solidFill>
          <a:ln w="10160">
            <a:solidFill>
              <a:srgbClr val="1D6FA4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9235440" y="3666744"/>
            <a:ext cx="1353312" cy="2926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0" name="Text 80"/>
          <p:cNvSpPr/>
          <p:nvPr/>
        </p:nvSpPr>
        <p:spPr>
          <a:xfrm>
            <a:off x="9290304" y="36667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100" dirty="0"/>
          </a:p>
        </p:txBody>
      </p:sp>
      <p:sp>
        <p:nvSpPr>
          <p:cNvPr id="91" name="Text 81"/>
          <p:cNvSpPr/>
          <p:nvPr/>
        </p:nvSpPr>
        <p:spPr>
          <a:xfrm>
            <a:off x="9290304" y="399592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competitions</a:t>
            </a:r>
            <a:endParaRPr lang="en-US" sz="1000" dirty="0"/>
          </a:p>
        </p:txBody>
      </p:sp>
      <p:sp>
        <p:nvSpPr>
          <p:cNvPr id="92" name="Shape 82"/>
          <p:cNvSpPr/>
          <p:nvPr/>
        </p:nvSpPr>
        <p:spPr>
          <a:xfrm>
            <a:off x="10625328" y="3666744"/>
            <a:ext cx="1353312" cy="978408"/>
          </a:xfrm>
          <a:prstGeom prst="rect">
            <a:avLst/>
          </a:prstGeom>
          <a:solidFill>
            <a:srgbClr val="D7F8E6"/>
          </a:solidFill>
          <a:ln w="10160">
            <a:solidFill>
              <a:srgbClr val="2EC866"/>
            </a:solidFill>
            <a:prstDash val="solid"/>
          </a:ln>
        </p:spPr>
      </p:sp>
      <p:sp>
        <p:nvSpPr>
          <p:cNvPr id="93" name="Shape 83"/>
          <p:cNvSpPr/>
          <p:nvPr/>
        </p:nvSpPr>
        <p:spPr>
          <a:xfrm>
            <a:off x="10625328" y="3666744"/>
            <a:ext cx="1353312" cy="292608"/>
          </a:xfrm>
          <a:prstGeom prst="rect">
            <a:avLst/>
          </a:prstGeom>
          <a:solidFill>
            <a:srgbClr val="2EC866"/>
          </a:solidFill>
          <a:ln w="12700">
            <a:solidFill>
              <a:srgbClr val="2EC866"/>
            </a:solidFill>
            <a:prstDash val="solid"/>
          </a:ln>
        </p:spPr>
      </p:sp>
      <p:sp>
        <p:nvSpPr>
          <p:cNvPr id="94" name="Text 84"/>
          <p:cNvSpPr/>
          <p:nvPr/>
        </p:nvSpPr>
        <p:spPr>
          <a:xfrm>
            <a:off x="10680192" y="3666744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HackerRank</a:t>
            </a:r>
            <a:endParaRPr lang="en-US" sz="1100" dirty="0"/>
          </a:p>
        </p:txBody>
      </p:sp>
      <p:sp>
        <p:nvSpPr>
          <p:cNvPr id="95" name="Text 85"/>
          <p:cNvSpPr/>
          <p:nvPr/>
        </p:nvSpPr>
        <p:spPr>
          <a:xfrm>
            <a:off x="10680192" y="399592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assessments &amp; badges</a:t>
            </a:r>
            <a:endParaRPr lang="en-US" sz="1000" dirty="0"/>
          </a:p>
        </p:txBody>
      </p:sp>
      <p:sp>
        <p:nvSpPr>
          <p:cNvPr id="96" name="Shape 86"/>
          <p:cNvSpPr/>
          <p:nvPr/>
        </p:nvSpPr>
        <p:spPr>
          <a:xfrm>
            <a:off x="3200400" y="6263640"/>
            <a:ext cx="8961120" cy="59436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pic>
        <p:nvPicPr>
          <p:cNvPr id="9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7560" y="6300216"/>
            <a:ext cx="384048" cy="384048"/>
          </a:xfrm>
          <a:prstGeom prst="rect">
            <a:avLst/>
          </a:prstGeom>
        </p:spPr>
      </p:pic>
      <p:sp>
        <p:nvSpPr>
          <p:cNvPr id="98" name="Text 87"/>
          <p:cNvSpPr/>
          <p:nvPr/>
        </p:nvSpPr>
        <p:spPr>
          <a:xfrm>
            <a:off x="3794760" y="6263640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Literacy = Finding  +  Evaluating  +  Creating  +  Communicating  +  Staying Safe Online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Widescreen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Arial Black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ABHINAV JAIN</cp:lastModifiedBy>
  <cp:revision>1</cp:revision>
  <dcterms:created xsi:type="dcterms:W3CDTF">2026-03-20T12:19:12Z</dcterms:created>
  <dcterms:modified xsi:type="dcterms:W3CDTF">2026-03-20T12:42:32Z</dcterms:modified>
</cp:coreProperties>
</file>